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Q1 answer: B — the sender domain is a lookalike, not the real company domain. This is the most reliable technical red flag; the other details (generic greeting, urgency) are supporting signals but the domain mismatch is definitive proof of spoofing.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-365760"/>
            <a:ext cx="2377440" cy="2377440"/>
          </a:xfrm>
          <a:prstGeom prst="ellipse">
            <a:avLst/>
          </a:prstGeom>
          <a:solidFill>
            <a:srgbClr val="1C3B5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777240" cy="77724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091" y="817931"/>
            <a:ext cx="512978" cy="5129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AWARENESS TRAINING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0574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Phishing Attacks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B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 Bait, Resist the Hook, Report the Threat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2062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B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guide to spotting phishing emails, fake websites, and the social-engineering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B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tactics attackers use to steal credentials, money, and trust.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53492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3.4B+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822960" y="58521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 sent daily worldwide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389120" y="53492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90%+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389120" y="58521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 breaches start with phishing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955280" y="53492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$100M+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7955280" y="58521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in a single phishing scheme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22960" y="647395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Nidhesh Kewal Solanki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274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58191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7DEE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166360" y="1709928"/>
            <a:ext cx="548640" cy="548640"/>
          </a:xfrm>
          <a:prstGeom prst="ellipse">
            <a:avLst/>
          </a:prstGeom>
          <a:solidFill>
            <a:srgbClr val="F5F7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9629" y="1803197"/>
            <a:ext cx="362102" cy="3621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600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Phishing?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08760" y="203911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scale, and why it works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09360" y="14173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37960" y="158191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7DEE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10835640" y="1709928"/>
            <a:ext cx="548640" cy="548640"/>
          </a:xfrm>
          <a:prstGeom prst="ellipse">
            <a:avLst/>
          </a:prstGeom>
          <a:solidFill>
            <a:srgbClr val="F5F7F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8909" y="1803197"/>
            <a:ext cx="362102" cy="3621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1600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Phishing Emails &amp; Fake Sites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178040" y="203911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tell-tale red flags to check every time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31089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68680" y="327355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7DEE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5166360" y="3401568"/>
            <a:ext cx="548640" cy="548640"/>
          </a:xfrm>
          <a:prstGeom prst="ellipse">
            <a:avLst/>
          </a:prstGeom>
          <a:solidFill>
            <a:srgbClr val="F5F7F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9629" y="3494837"/>
            <a:ext cx="362102" cy="36210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08760" y="3291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Tactics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508760" y="373075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psychological tricks behind the technology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309360" y="31089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537960" y="327355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7DEE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2400" dirty="0"/>
          </a:p>
        </p:txBody>
      </p:sp>
      <p:sp>
        <p:nvSpPr>
          <p:cNvPr id="24" name="Shape 19"/>
          <p:cNvSpPr/>
          <p:nvPr/>
        </p:nvSpPr>
        <p:spPr>
          <a:xfrm>
            <a:off x="10835640" y="3401568"/>
            <a:ext cx="548640" cy="548640"/>
          </a:xfrm>
          <a:prstGeom prst="ellipse">
            <a:avLst/>
          </a:prstGeom>
          <a:solidFill>
            <a:srgbClr val="F5F7FA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8909" y="3494837"/>
            <a:ext cx="362102" cy="36210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178040" y="3291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Case Studies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178040" y="373075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two headline-making scams actually worked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40080" y="48006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868680" y="49651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7DEE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05</a:t>
            </a:r>
            <a:endParaRPr lang="en-US" sz="2400" dirty="0"/>
          </a:p>
        </p:txBody>
      </p:sp>
      <p:sp>
        <p:nvSpPr>
          <p:cNvPr id="30" name="Shape 24"/>
          <p:cNvSpPr/>
          <p:nvPr/>
        </p:nvSpPr>
        <p:spPr>
          <a:xfrm>
            <a:off x="5166360" y="5093208"/>
            <a:ext cx="548640" cy="548640"/>
          </a:xfrm>
          <a:prstGeom prst="ellipse">
            <a:avLst/>
          </a:prstGeom>
          <a:solidFill>
            <a:srgbClr val="F5F7FA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9629" y="5186477"/>
            <a:ext cx="362102" cy="36210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508760" y="4983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&amp; Defense Tips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1508760" y="542239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Habits that stop phishing before it starts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6309360" y="48006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5" name="Text 28"/>
          <p:cNvSpPr/>
          <p:nvPr/>
        </p:nvSpPr>
        <p:spPr>
          <a:xfrm>
            <a:off x="6537960" y="49651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7DEE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06</a:t>
            </a:r>
            <a:endParaRPr lang="en-US" sz="2400" dirty="0"/>
          </a:p>
        </p:txBody>
      </p:sp>
      <p:sp>
        <p:nvSpPr>
          <p:cNvPr id="36" name="Shape 29"/>
          <p:cNvSpPr/>
          <p:nvPr/>
        </p:nvSpPr>
        <p:spPr>
          <a:xfrm>
            <a:off x="10835640" y="5093208"/>
            <a:ext cx="548640" cy="548640"/>
          </a:xfrm>
          <a:prstGeom prst="ellipse">
            <a:avLst/>
          </a:prstGeom>
          <a:solidFill>
            <a:srgbClr val="F5F7FA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8909" y="5186477"/>
            <a:ext cx="362102" cy="36210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178040" y="4983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Quiz</a:t>
            </a:r>
            <a:endParaRPr lang="en-US" sz="1500" dirty="0"/>
          </a:p>
        </p:txBody>
      </p:sp>
      <p:sp>
        <p:nvSpPr>
          <p:cNvPr id="39" name="Text 31"/>
          <p:cNvSpPr/>
          <p:nvPr/>
        </p:nvSpPr>
        <p:spPr>
          <a:xfrm>
            <a:off x="7178040" y="542239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your new skills to the test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B1F3B"/>
          </a:solidFill>
          <a:ln/>
        </p:spPr>
      </p:sp>
      <p:sp>
        <p:nvSpPr>
          <p:cNvPr id="3" name="Shape 1"/>
          <p:cNvSpPr/>
          <p:nvPr/>
        </p:nvSpPr>
        <p:spPr>
          <a:xfrm>
            <a:off x="1417320" y="685800"/>
            <a:ext cx="1280160" cy="128016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4947" y="903427"/>
            <a:ext cx="844906" cy="84490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14884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Phishing?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37490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B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social-engineering attack that impersonates a trusted source to steal credentials, money, or data.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617720" y="54864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7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Attackers cast a wide net — or a precise spear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617720" y="1234440"/>
            <a:ext cx="502920" cy="502920"/>
          </a:xfrm>
          <a:prstGeom prst="ellipse">
            <a:avLst/>
          </a:prstGeom>
          <a:solidFill>
            <a:srgbClr val="FCE9E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216" y="1319936"/>
            <a:ext cx="331927" cy="3319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03520" y="12161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303520" y="1527048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Mass, generic emails sent to thousands hoping a few people click.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617720" y="2075688"/>
            <a:ext cx="502920" cy="502920"/>
          </a:xfrm>
          <a:prstGeom prst="ellipse">
            <a:avLst/>
          </a:prstGeom>
          <a:solidFill>
            <a:srgbClr val="FCE9E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3216" y="2161184"/>
            <a:ext cx="331927" cy="33192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03520" y="2057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303520" y="2368296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attacks aimed at a specific person using researched details.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17720" y="2916936"/>
            <a:ext cx="502920" cy="502920"/>
          </a:xfrm>
          <a:prstGeom prst="ellipse">
            <a:avLst/>
          </a:prstGeom>
          <a:solidFill>
            <a:srgbClr val="FCE9E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3216" y="3002432"/>
            <a:ext cx="331927" cy="33192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03520" y="28986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Whaling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303520" y="3209544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 targeted at executives or other high-value individuals.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617720" y="3758184"/>
            <a:ext cx="502920" cy="502920"/>
          </a:xfrm>
          <a:prstGeom prst="ellipse">
            <a:avLst/>
          </a:prstGeom>
          <a:solidFill>
            <a:srgbClr val="FCE9EA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3216" y="3843680"/>
            <a:ext cx="331927" cy="33192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03520" y="373989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 / Smishing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5303520" y="4050792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calls or text messages used instead of, or alongside, email.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4617720" y="4617720"/>
            <a:ext cx="6903720" cy="1371600"/>
          </a:xfrm>
          <a:prstGeom prst="roundRect">
            <a:avLst>
              <a:gd name="adj" fmla="val 5333"/>
            </a:avLst>
          </a:prstGeom>
          <a:solidFill>
            <a:srgbClr val="F0F9FB"/>
          </a:solidFill>
          <a:ln/>
        </p:spPr>
      </p:sp>
      <p:sp>
        <p:nvSpPr>
          <p:cNvPr id="25" name="Shape 18"/>
          <p:cNvSpPr/>
          <p:nvPr/>
        </p:nvSpPr>
        <p:spPr>
          <a:xfrm>
            <a:off x="4846320" y="484632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5474" y="4935474"/>
            <a:ext cx="416052" cy="41605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623560" y="4800600"/>
            <a:ext cx="5715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still works: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doesn't need to break your software — it only needs to trick a person. It exploits trust, urgency, and habit rather than technical vulnerabilities, which is why awareness is your strongest defense.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 BAIT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53035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Anatomy of a Phishing Email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6035040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6035040" cy="457200"/>
          </a:xfrm>
          <a:prstGeom prst="rect">
            <a:avLst/>
          </a:prstGeom>
          <a:solidFill>
            <a:srgbClr val="EDEFF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517904"/>
            <a:ext cx="164592" cy="164592"/>
          </a:xfrm>
          <a:prstGeom prst="ellipse">
            <a:avLst/>
          </a:prstGeom>
          <a:solidFill>
            <a:srgbClr val="E2E5E9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1517904"/>
            <a:ext cx="164592" cy="164592"/>
          </a:xfrm>
          <a:prstGeom prst="ellipse">
            <a:avLst/>
          </a:prstGeom>
          <a:solidFill>
            <a:srgbClr val="E2E5E9"/>
          </a:solidFill>
          <a:ln/>
        </p:spPr>
      </p:sp>
      <p:sp>
        <p:nvSpPr>
          <p:cNvPr id="8" name="Shape 6"/>
          <p:cNvSpPr/>
          <p:nvPr/>
        </p:nvSpPr>
        <p:spPr>
          <a:xfrm>
            <a:off x="1234440" y="1517904"/>
            <a:ext cx="164592" cy="164592"/>
          </a:xfrm>
          <a:prstGeom prst="ellipse">
            <a:avLst/>
          </a:prstGeom>
          <a:solidFill>
            <a:srgbClr val="E2E5E9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116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691640" y="20116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IT-Support@secure-paypa1-verify.com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30428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91640" y="230428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you@yourcompany.com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596896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691640" y="259689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Urgent: Your Account Will Be Suspended in 24 Hours!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2971800"/>
            <a:ext cx="5486400" cy="0"/>
          </a:xfrm>
          <a:prstGeom prst="line">
            <a:avLst/>
          </a:prstGeom>
          <a:noFill/>
          <a:ln w="12700">
            <a:solidFill>
              <a:srgbClr val="E2E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15468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Valued Customer,
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detected unusual activity on your account. 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verify your information immediately or your account will be permanently locked.</a:t>
            </a:r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below to confirm your identity within the next 24 hours: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4400" y="461772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617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My Account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4400" y="5166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secure-paypa1-verify.com/login?id=88213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14400" y="55321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Security Team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4944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Red Flags to Check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949440" y="1828800"/>
            <a:ext cx="384048" cy="38404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0888" y="1890248"/>
            <a:ext cx="261153" cy="261153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498080" y="18013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Mismatched sender domain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498080" y="20848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"paypa1" (with a digit 1) instead of the real brand domain.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949440" y="2706624"/>
            <a:ext cx="384048" cy="38404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888" y="2768072"/>
            <a:ext cx="261153" cy="261153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498080" y="267919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&amp; threats</a:t>
            </a:r>
            <a:endParaRPr lang="en-US" sz="1250" dirty="0"/>
          </a:p>
        </p:txBody>
      </p:sp>
      <p:sp>
        <p:nvSpPr>
          <p:cNvPr id="29" name="Text 25"/>
          <p:cNvSpPr/>
          <p:nvPr/>
        </p:nvSpPr>
        <p:spPr>
          <a:xfrm>
            <a:off x="7498080" y="296265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deadlines pressure you to act before you think.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6949440" y="3584448"/>
            <a:ext cx="384048" cy="38404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888" y="3645896"/>
            <a:ext cx="261153" cy="261153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498080" y="355701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7498080" y="3840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"Valued Customer" instead of your actual name.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6949440" y="4462272"/>
            <a:ext cx="384048" cy="38404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888" y="4523720"/>
            <a:ext cx="261153" cy="261153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7498080" y="44348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links</a:t>
            </a:r>
            <a:endParaRPr lang="en-US" sz="1250" dirty="0"/>
          </a:p>
        </p:txBody>
      </p:sp>
      <p:sp>
        <p:nvSpPr>
          <p:cNvPr id="37" name="Text 31"/>
          <p:cNvSpPr/>
          <p:nvPr/>
        </p:nvSpPr>
        <p:spPr>
          <a:xfrm>
            <a:off x="7498080" y="471830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to preview — the display text hides the real URL.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6949440" y="5340096"/>
            <a:ext cx="384048" cy="38404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888" y="5401544"/>
            <a:ext cx="261153" cy="261153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498080" y="531266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for credentials</a:t>
            </a:r>
            <a:endParaRPr lang="en-US" sz="1250" dirty="0"/>
          </a:p>
        </p:txBody>
      </p:sp>
      <p:sp>
        <p:nvSpPr>
          <p:cNvPr id="41" name="Text 34"/>
          <p:cNvSpPr/>
          <p:nvPr/>
        </p:nvSpPr>
        <p:spPr>
          <a:xfrm>
            <a:off x="7498080" y="55961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companies rarely ask you to "verify" via email link.</a:t>
            </a:r>
            <a:endParaRPr lang="en-US" sz="1050" dirty="0"/>
          </a:p>
        </p:txBody>
      </p:sp>
      <p:sp>
        <p:nvSpPr>
          <p:cNvPr id="42" name="Text 3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 BAIT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53035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Spotting a Fake Website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212080" cy="2377440"/>
          </a:xfrm>
          <a:prstGeom prst="roundRect">
            <a:avLst>
              <a:gd name="adj" fmla="val 2308"/>
            </a:avLst>
          </a:prstGeom>
          <a:solidFill>
            <a:srgbClr val="FBFBFC"/>
          </a:solidFill>
          <a:ln w="12700">
            <a:solidFill>
              <a:srgbClr val="DEE2E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5212080" cy="502920"/>
          </a:xfrm>
          <a:prstGeom prst="rect">
            <a:avLst/>
          </a:prstGeom>
          <a:solidFill>
            <a:srgbClr val="EDEFF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256032" cy="2560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188720" y="1527048"/>
            <a:ext cx="4389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EE2E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61872" y="152704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http://yourbank-secure-login.info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21488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Login Page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26060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identical to the real site, but lives on a lookalike domain with no padlock and a subtly "off" layout.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309360" y="1417320"/>
            <a:ext cx="5212080" cy="2377440"/>
          </a:xfrm>
          <a:prstGeom prst="roundRect">
            <a:avLst>
              <a:gd name="adj" fmla="val 2308"/>
            </a:avLst>
          </a:prstGeom>
          <a:solidFill>
            <a:srgbClr val="FBFBFC"/>
          </a:solidFill>
          <a:ln w="12700">
            <a:solidFill>
              <a:srgbClr val="DEE2E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09360" y="1417320"/>
            <a:ext cx="5212080" cy="502920"/>
          </a:xfrm>
          <a:prstGeom prst="rect">
            <a:avLst/>
          </a:prstGeom>
          <a:solidFill>
            <a:srgbClr val="EDEFF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256032" cy="25603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858000" y="1527048"/>
            <a:ext cx="4389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EE2E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931152" y="152704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https://www.yourbank.com/login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309360" y="21488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Login Page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583680" y="26060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domain, HTTPS padlock, and a URL that exactly matches the brand you expect.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40080" y="4160520"/>
            <a:ext cx="2697480" cy="2057400"/>
          </a:xfrm>
          <a:prstGeom prst="roundRect">
            <a:avLst>
              <a:gd name="adj" fmla="val 3556"/>
            </a:avLst>
          </a:prstGeom>
          <a:solidFill>
            <a:srgbClr val="F5F7FA"/>
          </a:solidFill>
          <a:ln/>
        </p:spPr>
      </p:sp>
      <p:sp>
        <p:nvSpPr>
          <p:cNvPr id="19" name="Shape 15"/>
          <p:cNvSpPr/>
          <p:nvPr/>
        </p:nvSpPr>
        <p:spPr>
          <a:xfrm>
            <a:off x="868680" y="43891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147" y="4469587"/>
            <a:ext cx="341986" cy="34198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68680" y="5029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domain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68680" y="53949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left to right; look for misspellings, extra words, or swapped characters ("1" for "l").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502152" y="4160520"/>
            <a:ext cx="2697480" cy="2057400"/>
          </a:xfrm>
          <a:prstGeom prst="roundRect">
            <a:avLst>
              <a:gd name="adj" fmla="val 3556"/>
            </a:avLst>
          </a:prstGeom>
          <a:solidFill>
            <a:srgbClr val="F5F7FA"/>
          </a:solidFill>
          <a:ln/>
        </p:spPr>
      </p:sp>
      <p:sp>
        <p:nvSpPr>
          <p:cNvPr id="24" name="Shape 19"/>
          <p:cNvSpPr/>
          <p:nvPr/>
        </p:nvSpPr>
        <p:spPr>
          <a:xfrm>
            <a:off x="3730752" y="43891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1219" y="4469587"/>
            <a:ext cx="341986" cy="34198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730752" y="5029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HTTPS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3730752" y="53949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padlock means encrypted, not trustworthy — but its absence is a clear warning sign.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6364224" y="4160520"/>
            <a:ext cx="2697480" cy="2057400"/>
          </a:xfrm>
          <a:prstGeom prst="roundRect">
            <a:avLst>
              <a:gd name="adj" fmla="val 3556"/>
            </a:avLst>
          </a:prstGeom>
          <a:solidFill>
            <a:srgbClr val="F5F7FA"/>
          </a:solidFill>
          <a:ln/>
        </p:spPr>
      </p:sp>
      <p:sp>
        <p:nvSpPr>
          <p:cNvPr id="29" name="Shape 23"/>
          <p:cNvSpPr/>
          <p:nvPr/>
        </p:nvSpPr>
        <p:spPr>
          <a:xfrm>
            <a:off x="6592824" y="43891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3291" y="4469587"/>
            <a:ext cx="341986" cy="34198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592824" y="5029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before you click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6592824" y="53949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to preview the true destination URL first.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9226296" y="4160520"/>
            <a:ext cx="2697480" cy="2057400"/>
          </a:xfrm>
          <a:prstGeom prst="roundRect">
            <a:avLst>
              <a:gd name="adj" fmla="val 3556"/>
            </a:avLst>
          </a:prstGeom>
          <a:solidFill>
            <a:srgbClr val="F5F7FA"/>
          </a:solidFill>
          <a:ln/>
        </p:spPr>
      </p:sp>
      <p:sp>
        <p:nvSpPr>
          <p:cNvPr id="34" name="Shape 27"/>
          <p:cNvSpPr/>
          <p:nvPr/>
        </p:nvSpPr>
        <p:spPr>
          <a:xfrm>
            <a:off x="9454896" y="43891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5363" y="4469587"/>
            <a:ext cx="341986" cy="34198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454896" y="5029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poor quality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9454896" y="53949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Typos, low-res logos, and odd formatting often betray a copycat site.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EXPLOIT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53035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Social Engineering Tactics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succeeds by pulling psychological levers, not by breaking encryption. Attackers combine these tactics to bypass your instinct to double-check.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16324F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130552"/>
            <a:ext cx="594360" cy="594360"/>
          </a:xfrm>
          <a:prstGeom prst="ellipse">
            <a:avLst/>
          </a:prstGeom>
          <a:solidFill>
            <a:srgbClr val="0E274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2225650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2834640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96112" y="3200400"/>
            <a:ext cx="2916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B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 within 24 hours or lose access." Rushed people skip verification steps.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97680" y="187452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16324F"/>
          </a:solidFill>
          <a:ln/>
        </p:spPr>
      </p:sp>
      <p:sp>
        <p:nvSpPr>
          <p:cNvPr id="11" name="Shape 8"/>
          <p:cNvSpPr/>
          <p:nvPr/>
        </p:nvSpPr>
        <p:spPr>
          <a:xfrm>
            <a:off x="4553712" y="2130552"/>
            <a:ext cx="594360" cy="594360"/>
          </a:xfrm>
          <a:prstGeom prst="ellipse">
            <a:avLst/>
          </a:prstGeom>
          <a:solidFill>
            <a:srgbClr val="0E274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810" y="2225650"/>
            <a:ext cx="404165" cy="4041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53712" y="2834640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553712" y="3200400"/>
            <a:ext cx="2916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B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Impersonating a CEO, bank, or IT admin so the request feels mandatory.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955280" y="187452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16324F"/>
          </a:solidFill>
          <a:ln/>
        </p:spPr>
      </p:sp>
      <p:sp>
        <p:nvSpPr>
          <p:cNvPr id="16" name="Shape 12"/>
          <p:cNvSpPr/>
          <p:nvPr/>
        </p:nvSpPr>
        <p:spPr>
          <a:xfrm>
            <a:off x="8211312" y="2130552"/>
            <a:ext cx="594360" cy="594360"/>
          </a:xfrm>
          <a:prstGeom prst="ellipse">
            <a:avLst/>
          </a:prstGeom>
          <a:solidFill>
            <a:srgbClr val="0E274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410" y="2225650"/>
            <a:ext cx="404165" cy="40416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11312" y="2834640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Familiarity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211312" y="3200400"/>
            <a:ext cx="2916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B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 a coworker or known brand to lower your guard instantly.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40080" y="429768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16324F"/>
          </a:solidFill>
          <a:ln/>
        </p:spPr>
      </p:sp>
      <p:sp>
        <p:nvSpPr>
          <p:cNvPr id="21" name="Shape 16"/>
          <p:cNvSpPr/>
          <p:nvPr/>
        </p:nvSpPr>
        <p:spPr>
          <a:xfrm>
            <a:off x="896112" y="4553712"/>
            <a:ext cx="594360" cy="594360"/>
          </a:xfrm>
          <a:prstGeom prst="ellipse">
            <a:avLst/>
          </a:prstGeom>
          <a:solidFill>
            <a:srgbClr val="0E2743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210" y="4648810"/>
            <a:ext cx="404165" cy="40416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96112" y="5257800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896112" y="5623560"/>
            <a:ext cx="2916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B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of account suspension, legal trouble, or financial loss to provoke panic.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297680" y="429768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16324F"/>
          </a:solidFill>
          <a:ln/>
        </p:spPr>
      </p:sp>
      <p:sp>
        <p:nvSpPr>
          <p:cNvPr id="26" name="Shape 20"/>
          <p:cNvSpPr/>
          <p:nvPr/>
        </p:nvSpPr>
        <p:spPr>
          <a:xfrm>
            <a:off x="4553712" y="4553712"/>
            <a:ext cx="594360" cy="594360"/>
          </a:xfrm>
          <a:prstGeom prst="ellipse">
            <a:avLst/>
          </a:prstGeom>
          <a:solidFill>
            <a:srgbClr val="0E2743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810" y="4648810"/>
            <a:ext cx="404165" cy="40416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53712" y="5257800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 &amp; Greed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4553712" y="5623560"/>
            <a:ext cx="2916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B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prizes, invoices, or "you won't believe this" links baiting a click.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7955280" y="429768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16324F"/>
          </a:solidFill>
          <a:ln/>
        </p:spPr>
      </p:sp>
      <p:sp>
        <p:nvSpPr>
          <p:cNvPr id="31" name="Shape 24"/>
          <p:cNvSpPr/>
          <p:nvPr/>
        </p:nvSpPr>
        <p:spPr>
          <a:xfrm>
            <a:off x="8211312" y="4553712"/>
            <a:ext cx="594360" cy="594360"/>
          </a:xfrm>
          <a:prstGeom prst="ellipse">
            <a:avLst/>
          </a:prstGeom>
          <a:solidFill>
            <a:srgbClr val="0E2743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6410" y="4648810"/>
            <a:ext cx="404165" cy="40416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211312" y="5257800"/>
            <a:ext cx="2916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Scarcity</a:t>
            </a:r>
            <a:endParaRPr lang="en-US" sz="1550" dirty="0"/>
          </a:p>
        </p:txBody>
      </p:sp>
      <p:sp>
        <p:nvSpPr>
          <p:cNvPr id="34" name="Text 26"/>
          <p:cNvSpPr/>
          <p:nvPr/>
        </p:nvSpPr>
        <p:spPr>
          <a:xfrm>
            <a:off x="8211312" y="5623560"/>
            <a:ext cx="29169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B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"Only 3 spots left" or limited-time offers that discourage careful thought.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B1F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548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$100M+ Fake Invoice Scam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1371600" cy="13716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" y="192481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00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394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$121M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365760" y="3749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from Google and Facebook, 2013–2015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108960" y="16459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2013 and 2015, Lithuanian national Evaldas Rimasauskas registered a shell company under the same name as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 Computer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real hardware supplier to both Google and Facebook.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108960" y="2697480"/>
            <a:ext cx="365760" cy="365760"/>
          </a:xfrm>
          <a:prstGeom prst="ellipse">
            <a:avLst/>
          </a:prstGeom>
          <a:solidFill>
            <a:srgbClr val="0B1F3B"/>
          </a:solidFill>
          <a:ln/>
        </p:spPr>
      </p:sp>
      <p:sp>
        <p:nvSpPr>
          <p:cNvPr id="11" name="Text 8"/>
          <p:cNvSpPr/>
          <p:nvPr/>
        </p:nvSpPr>
        <p:spPr>
          <a:xfrm>
            <a:off x="310896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11880" y="265176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sent forged invoices, contracts, and letters imitating Quanta's real executives and corporate stamps.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108960" y="3337560"/>
            <a:ext cx="365760" cy="365760"/>
          </a:xfrm>
          <a:prstGeom prst="ellipse">
            <a:avLst/>
          </a:prstGeom>
          <a:solidFill>
            <a:srgbClr val="0B1F3B"/>
          </a:solidFill>
          <a:ln/>
        </p:spPr>
      </p:sp>
      <p:sp>
        <p:nvSpPr>
          <p:cNvPr id="14" name="Text 11"/>
          <p:cNvSpPr/>
          <p:nvPr/>
        </p:nvSpPr>
        <p:spPr>
          <a:xfrm>
            <a:off x="3108960" y="3337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611880" y="329184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at both companies, believing the emails were routine supplier billing, approved the wire transfers.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108960" y="3977640"/>
            <a:ext cx="365760" cy="365760"/>
          </a:xfrm>
          <a:prstGeom prst="ellipse">
            <a:avLst/>
          </a:prstGeom>
          <a:solidFill>
            <a:srgbClr val="0B1F3B"/>
          </a:solidFill>
          <a:ln/>
        </p:spPr>
      </p:sp>
      <p:sp>
        <p:nvSpPr>
          <p:cNvPr id="17" name="Text 14"/>
          <p:cNvSpPr/>
          <p:nvPr/>
        </p:nvSpPr>
        <p:spPr>
          <a:xfrm>
            <a:off x="310896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611880" y="393192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were routed to accounts in Latvia and Cyprus, then laundered through multiple countries.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108960" y="4617720"/>
            <a:ext cx="365760" cy="365760"/>
          </a:xfrm>
          <a:prstGeom prst="ellipse">
            <a:avLst/>
          </a:prstGeom>
          <a:solidFill>
            <a:srgbClr val="0B1F3B"/>
          </a:solidFill>
          <a:ln/>
        </p:spPr>
      </p:sp>
      <p:sp>
        <p:nvSpPr>
          <p:cNvPr id="20" name="Text 17"/>
          <p:cNvSpPr/>
          <p:nvPr/>
        </p:nvSpPr>
        <p:spPr>
          <a:xfrm>
            <a:off x="310896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611880" y="457200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was extradited to the U.S. in 2017, pleaded guilty to wire fraud, and was sentenced to 5 years in prison.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108960" y="534924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0F9FB"/>
          </a:solidFill>
          <a:ln/>
        </p:spPr>
      </p:sp>
      <p:sp>
        <p:nvSpPr>
          <p:cNvPr id="23" name="Text 20"/>
          <p:cNvSpPr/>
          <p:nvPr/>
        </p:nvSpPr>
        <p:spPr>
          <a:xfrm>
            <a:off x="3337560" y="5349240"/>
            <a:ext cx="7955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Fortune 500 finance teams were fooled. Always verify payment changes through a second channel — call a known number, don't reply to the email.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B1F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548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2020 Twitter Employee Breach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1371600" cy="13716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" y="192481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004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394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130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365760" y="3749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high-profile accounts compromised in hours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108960" y="16459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July 2020, attackers didn't target Twitter's code — they targeted its </a:t>
            </a:r>
            <a:pPr indent="0" marL="0">
              <a:lnSpc>
                <a:spcPct val="130000"/>
              </a:lnSpc>
              <a:buNone/>
            </a:pPr>
            <a:r>
              <a:rPr lang="en-US" sz="1300" b="1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 "phone spear phishing" attack.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108960" y="2468880"/>
            <a:ext cx="365760" cy="365760"/>
          </a:xfrm>
          <a:prstGeom prst="ellipse">
            <a:avLst/>
          </a:prstGeom>
          <a:solidFill>
            <a:srgbClr val="0B1F3B"/>
          </a:solidFill>
          <a:ln/>
        </p:spPr>
      </p:sp>
      <p:sp>
        <p:nvSpPr>
          <p:cNvPr id="11" name="Text 8"/>
          <p:cNvSpPr/>
          <p:nvPr/>
        </p:nvSpPr>
        <p:spPr>
          <a:xfrm>
            <a:off x="310896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11880" y="242316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called Twitter employees posing as IT help-desk staff reporting a VPN problem.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108960" y="3108960"/>
            <a:ext cx="365760" cy="365760"/>
          </a:xfrm>
          <a:prstGeom prst="ellipse">
            <a:avLst/>
          </a:prstGeom>
          <a:solidFill>
            <a:srgbClr val="0B1F3B"/>
          </a:solidFill>
          <a:ln/>
        </p:spPr>
      </p:sp>
      <p:sp>
        <p:nvSpPr>
          <p:cNvPr id="14" name="Text 11"/>
          <p:cNvSpPr/>
          <p:nvPr/>
        </p:nvSpPr>
        <p:spPr>
          <a:xfrm>
            <a:off x="310896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611880" y="306324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Victims were directed to a fake VPN login page that looked identical to Twitter's real one.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108960" y="3749040"/>
            <a:ext cx="365760" cy="365760"/>
          </a:xfrm>
          <a:prstGeom prst="ellipse">
            <a:avLst/>
          </a:prstGeom>
          <a:solidFill>
            <a:srgbClr val="0B1F3B"/>
          </a:solidFill>
          <a:ln/>
        </p:spPr>
      </p:sp>
      <p:sp>
        <p:nvSpPr>
          <p:cNvPr id="17" name="Text 14"/>
          <p:cNvSpPr/>
          <p:nvPr/>
        </p:nvSpPr>
        <p:spPr>
          <a:xfrm>
            <a:off x="310896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611880" y="370332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credentials gave access to internal admin tools used to take over verified accounts.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108960" y="4389120"/>
            <a:ext cx="365760" cy="365760"/>
          </a:xfrm>
          <a:prstGeom prst="ellipse">
            <a:avLst/>
          </a:prstGeom>
          <a:solidFill>
            <a:srgbClr val="0B1F3B"/>
          </a:solidFill>
          <a:ln/>
        </p:spPr>
      </p:sp>
      <p:sp>
        <p:nvSpPr>
          <p:cNvPr id="20" name="Text 17"/>
          <p:cNvSpPr/>
          <p:nvPr/>
        </p:nvSpPr>
        <p:spPr>
          <a:xfrm>
            <a:off x="3108960" y="4389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611880" y="434340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accounts (Obama, Musk, Gates, Apple, and more) tweeted a bitcoin "double your money" scam.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108960" y="5120640"/>
            <a:ext cx="8412480" cy="1097280"/>
          </a:xfrm>
          <a:prstGeom prst="roundRect">
            <a:avLst>
              <a:gd name="adj" fmla="val 6667"/>
            </a:avLst>
          </a:prstGeom>
          <a:solidFill>
            <a:srgbClr val="F0F9FB"/>
          </a:solidFill>
          <a:ln/>
        </p:spPr>
      </p:sp>
      <p:sp>
        <p:nvSpPr>
          <p:cNvPr id="23" name="Text 20"/>
          <p:cNvSpPr/>
          <p:nvPr/>
        </p:nvSpPr>
        <p:spPr>
          <a:xfrm>
            <a:off x="3337560" y="5120640"/>
            <a:ext cx="7955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isn't limited to email. Vishing (voice) and smishing (SMS) exploit the same trust and urgency — always verify unexpected IT requests through an official, independently-confirmed channel.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DEFENSE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530352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Best Practices to Avoid Falling Victim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6002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462" y="168798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286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and inspect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263347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down before clicking. Check sender address, hover over links, and read carefully for red flags.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434840" y="137160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6002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222" y="168798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286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independently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63440" y="263347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unusual requests by phone or in person, using a number you already know — not one from the email.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29600" y="137160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0" y="16002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982" y="168798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2286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MFA everywhere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58200" y="263347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 stops most account takeovers even if a password is stolen.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65760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38862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462" y="397398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8680" y="4572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password manager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68680" y="491947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passwords per site, plus autofill that won't fill credentials on a lookalike domain.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434840" y="365760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63440" y="38862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1222" y="3973982"/>
            <a:ext cx="373075" cy="37307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63440" y="4572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software updated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63440" y="491947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 close vulnerabilities attackers use once a phishing link delivers malware.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229600" y="365760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58200" y="38862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5982" y="3973982"/>
            <a:ext cx="373075" cy="37307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58200" y="4572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don't just delete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458200" y="4919472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suspicious emails to IT/security — one report can protect the whole organization.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93" y="605333"/>
            <a:ext cx="435254" cy="4352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QUESTION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63040" y="84124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detail below is the biggest red flag?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658368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874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691640" y="18745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hr@yourcompany-payroll.net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216712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691640" y="216712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you@yourcompany.com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2459736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691640" y="245973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Direct Deposit Form — Sign Today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14400" y="2834640"/>
            <a:ext cx="6035040" cy="0"/>
          </a:xfrm>
          <a:prstGeom prst="line">
            <a:avLst/>
          </a:prstGeom>
          <a:noFill/>
          <a:ln w="12700">
            <a:solidFill>
              <a:srgbClr val="E2E5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2971800"/>
            <a:ext cx="6035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Team,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review and sign the attached direct deposit update before end of day. HR needs this processed immediately to avoid a delay in your next paycheck.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here to sign: bit.ly/hr-payroll-update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452360" y="173736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16324F"/>
          </a:solidFill>
          <a:ln/>
        </p:spPr>
      </p:sp>
      <p:sp>
        <p:nvSpPr>
          <p:cNvPr id="16" name="Text 13"/>
          <p:cNvSpPr/>
          <p:nvPr/>
        </p:nvSpPr>
        <p:spPr>
          <a:xfrm>
            <a:off x="7680960" y="173736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The email uses a company logo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452360" y="260604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16324F"/>
          </a:solidFill>
          <a:ln/>
        </p:spPr>
      </p:sp>
      <p:sp>
        <p:nvSpPr>
          <p:cNvPr id="18" name="Text 15"/>
          <p:cNvSpPr/>
          <p:nvPr/>
        </p:nvSpPr>
        <p:spPr>
          <a:xfrm>
            <a:off x="7680960" y="260604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Sender domain ("-payroll.net") doesn't match the real company domain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452360" y="347472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16324F"/>
          </a:solidFill>
          <a:ln/>
        </p:spPr>
      </p:sp>
      <p:sp>
        <p:nvSpPr>
          <p:cNvPr id="20" name="Text 17"/>
          <p:cNvSpPr/>
          <p:nvPr/>
        </p:nvSpPr>
        <p:spPr>
          <a:xfrm>
            <a:off x="7680960" y="347472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It's addressed to "Team" instead of by name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452360" y="4343400"/>
            <a:ext cx="4114800" cy="685800"/>
          </a:xfrm>
          <a:prstGeom prst="roundRect">
            <a:avLst>
              <a:gd name="adj" fmla="val 10667"/>
            </a:avLst>
          </a:prstGeom>
          <a:solidFill>
            <a:srgbClr val="16324F"/>
          </a:solidFill>
          <a:ln/>
        </p:spPr>
      </p:sp>
      <p:sp>
        <p:nvSpPr>
          <p:cNvPr id="22" name="Text 19"/>
          <p:cNvSpPr/>
          <p:nvPr/>
        </p:nvSpPr>
        <p:spPr>
          <a:xfrm>
            <a:off x="7680960" y="434340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It mentions a paycheck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7452360" y="5257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on the next slide →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92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ANSWER &amp; QUICK-FIRE 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53035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 Key &amp; True or False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0F9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536192"/>
            <a:ext cx="731520" cy="73152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" y="1653235"/>
            <a:ext cx="497434" cy="4974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371600"/>
            <a:ext cx="9509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B.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sender domain "yourcompany-payroll.net" doesn't match the real company domain — a spoofed or lookalike domain is the clearest proof an email isn't legitimate, even when the rest looks polished.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2697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Quick-Fire: True or False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324612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3364992"/>
            <a:ext cx="530352" cy="530352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513" y="3444545"/>
            <a:ext cx="371246" cy="37124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3300984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padlock icon in the browser guarantees a website is safe.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7269480" y="3300984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321040" y="3300984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means the connection is encrypted — attackers can get HTTPS certificates too.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40080" y="4142232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4261104"/>
            <a:ext cx="530352" cy="530352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513" y="4340657"/>
            <a:ext cx="371246" cy="37124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4197096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Hovering over a link (without clicking) can reveal its real destination.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7269480" y="4197096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321040" y="4197096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email clients and browsers show the true URL in a preview or status bar.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40080" y="5038344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5157216"/>
            <a:ext cx="530352" cy="530352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513" y="5236769"/>
            <a:ext cx="371246" cy="37124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08760" y="5093208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always reply to a suspicious email to ask if it's real.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7269480" y="5093208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8321040" y="5093208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reply — it confirms your address is active. Verify via a separate, known channel.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640080" y="5934456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822960" y="6053328"/>
            <a:ext cx="530352" cy="530352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513" y="6132881"/>
            <a:ext cx="371246" cy="37124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508760" y="5989320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 can stop an attack even after a password is stolen.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7269480" y="598932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8321040" y="598932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blocks most account takeovers because the attacker still lacks the second factor.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5486400" cy="5486400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31520"/>
            <a:ext cx="1188720" cy="118872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933602"/>
            <a:ext cx="784555" cy="7845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Stay Alert. Stay Safe.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85800" y="288036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don't click — verify through a trusted, independent channel and report it to your security team.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85800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395478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388620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sender &amp; URL before you trust an email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85800" y="4453128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4521708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4453128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urgency, fear, and authority as manipulation tactics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85800" y="5020056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5088636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5880" y="5020056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MFA and unique passwords everywhere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85800" y="5586984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" y="5655564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25880" y="5586984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messages instead of just deleting them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7772400" y="2103120"/>
            <a:ext cx="3794760" cy="3566160"/>
          </a:xfrm>
          <a:prstGeom prst="roundRect">
            <a:avLst>
              <a:gd name="adj" fmla="val 2051"/>
            </a:avLst>
          </a:prstGeom>
          <a:solidFill>
            <a:srgbClr val="16324F"/>
          </a:solidFill>
          <a:ln/>
        </p:spPr>
      </p:sp>
      <p:sp>
        <p:nvSpPr>
          <p:cNvPr id="20" name="Text 13"/>
          <p:cNvSpPr/>
          <p:nvPr/>
        </p:nvSpPr>
        <p:spPr>
          <a:xfrm>
            <a:off x="8046720" y="2377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Phishing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8046720" y="2743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spot a suspicious email, text, or call: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804672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8412480" y="3200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click links or reply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8046720" y="3675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8412480" y="367588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enter any credentials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8046720" y="41513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8412480" y="415137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it to IT / Security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8046720" y="4626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8412480" y="462686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it after reporting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8046720" y="5166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helping keep our organization secure.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Attacks: Recognize, Resist, Report</dc:title>
  <dc:subject>PptxGenJS Presentation</dc:subject>
  <dc:creator>Security Awareness Training</dc:creator>
  <cp:lastModifiedBy>Security Awareness Training</cp:lastModifiedBy>
  <cp:revision>1</cp:revision>
  <dcterms:created xsi:type="dcterms:W3CDTF">2026-07-02T08:05:34Z</dcterms:created>
  <dcterms:modified xsi:type="dcterms:W3CDTF">2026-07-02T08:05:34Z</dcterms:modified>
</cp:coreProperties>
</file>